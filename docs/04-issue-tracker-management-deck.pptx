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417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a proposal to approve Phase 1 of an issue tracker and service request system, built as a module inside the existing Synapse platform. Ask for approval to build; Phase 2 and 3 are directional and will be scoped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recurring problems: no accountability trail when issues are handled by phone/chat, duplicated effort when the same issue is raised on multiple channels, and manual repetitive work on routine document requests. Ground this in the real incident: a client penalty caused by a misheard instruction over an unlogged RMS phone call — this is not hypothetical.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proposal in one sentence: a single ticketing system embedded in Synapse, covering every intake channel, taking each issue through categorization, resolution and reporting as one continuous, audited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 driving Phase 1: single trackable record, clear accountability, no duplicate handling, less manual document work, management visibility from day one, and this also lays the groundwork for a future after-hours self-service assistant in Phase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concrete Phase 1 build list: multi-channel intake, identity resolution with a guest-ticket fallback for people not yet in master data, a predefined category taxonomy, human-confirmed duplicate merging, a fully audited resolution workflow, a management-gated change-request path, automated document delivery, and a basic stats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we considered and deliberately left out of Phase 1: OTP/MFA on document requests — email and mobile match against master data is sufficient for now — and severity-tiered SLAs, kept as a flat 12 to 24 hour target everywhere so Phase 1 stays tight and shippable.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phases. Phase 1 is the core ticketing loop we're asking to build now. Phase 2 adds the CEO Command Center dashboard once Phase 1 data is reliable. Phase 3 adds email intake, a curated solutions repository, and the after-hours bot — the highest-risk piece, deliberately sequenced last because it needs a real curated repository to draw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built entirely on Synapse's existing, production-verified stack — Next.js 16, Postgres via Prisma, the existing auth model, Tailwind and Recharts. The only new piece for Phase 1 is a WhatsApp Business API integration for that one channel. This de-risks the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Building inside Synapse gives one login, one database, and direct reuse of master data instead of a sync layer between two systems. The honest tradeoff: it couples this module's release cycle to Synapse's. Acceptable now; worth revisiting only if that becomes a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Given the compliance sensitivity of this domain and the RMS incident already mentioned, the Phase 3 after-hours bot is designed with hard guardrails: it answers only from curated, human-approved resolutions, never open-ended generation, and creates a real ticket for next-business-day human response whenever it isn't confident.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specific ask today: approve Phase 1 scope for build. Phase 2 and 3 remain directional and will come back for their own scoping and approval closer to when they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D8F6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206240"/>
            <a:ext cx="5486400" cy="5486400"/>
          </a:xfrm>
          <a:prstGeom prst="ellipse">
            <a:avLst/>
          </a:prstGeom>
          <a:solidFill>
            <a:srgbClr val="66BB4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48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INVESTOR'S HOME LIMITED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542032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Tracker &amp;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Request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2793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Synapse Module — Proposal for Approval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60807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SIHL Leadership   |   Manesh Mukherjee</a:t>
            </a:r>
            <a:endParaRPr lang="en-US" sz="11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149" y="3998422"/>
            <a:ext cx="1835401" cy="24554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2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today are handled informally — and that already has a real cost.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A528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 trail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00253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and WhatsApp threads leave no record of who decided what.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0A52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effort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14553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issue is often raised — and worked — more than once.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0A52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repetitive 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28853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document requests consume staff time that could be automated.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0" y="1691640"/>
            <a:ext cx="4754880" cy="3566160"/>
          </a:xfrm>
          <a:prstGeom prst="roundRect">
            <a:avLst>
              <a:gd name="adj" fmla="val 2051"/>
            </a:avLst>
          </a:prstGeom>
          <a:solidFill>
            <a:srgbClr val="F2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1965960"/>
            <a:ext cx="457200" cy="457200"/>
          </a:xfrm>
          <a:prstGeom prst="ellipse">
            <a:avLst/>
          </a:prstGeom>
          <a:solidFill>
            <a:srgbClr val="0A5281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26680" y="1993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cost, already incurred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0" y="26974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penalty followed a misheard verbal instruction, given over a phone call to RMS instead of a logged, attributable channel.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223760" y="40233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hypothetical risk case — it is the reason this proposal exists.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 Synapse — Issue Tracker &amp; Service Request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2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ticketing system. Every channel. One record, start to finish.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956" y="26517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0A5281"/>
          </a:solidFill>
          <a:ln/>
        </p:spPr>
      </p:sp>
      <p:sp>
        <p:nvSpPr>
          <p:cNvPr id="5" name="Text 3"/>
          <p:cNvSpPr/>
          <p:nvPr/>
        </p:nvSpPr>
        <p:spPr>
          <a:xfrm>
            <a:off x="101956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3396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· WhatsApp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Synapse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93112" y="2976372"/>
            <a:ext cx="384048" cy="402336"/>
          </a:xfrm>
          <a:prstGeom prst="chevron">
            <a:avLst/>
          </a:prstGeom>
          <a:solidFill>
            <a:srgbClr val="1D8F6A"/>
          </a:solidFill>
          <a:ln/>
        </p:spPr>
      </p:sp>
      <p:sp>
        <p:nvSpPr>
          <p:cNvPr id="8" name="Shape 6"/>
          <p:cNvSpPr/>
          <p:nvPr/>
        </p:nvSpPr>
        <p:spPr>
          <a:xfrm>
            <a:off x="3320644" y="26517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0A5281"/>
          </a:solidFill>
          <a:ln/>
        </p:spPr>
      </p:sp>
      <p:sp>
        <p:nvSpPr>
          <p:cNvPr id="9" name="Text 7"/>
          <p:cNvSpPr/>
          <p:nvPr/>
        </p:nvSpPr>
        <p:spPr>
          <a:xfrm>
            <a:off x="3320644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12084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taxonomy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11800" y="2976372"/>
            <a:ext cx="384048" cy="402336"/>
          </a:xfrm>
          <a:prstGeom prst="chevron">
            <a:avLst/>
          </a:prstGeom>
          <a:solidFill>
            <a:srgbClr val="1D8F6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9332" y="26517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0A5281"/>
          </a:solidFill>
          <a:ln/>
        </p:spPr>
      </p:sp>
      <p:sp>
        <p:nvSpPr>
          <p:cNvPr id="13" name="Text 11"/>
          <p:cNvSpPr/>
          <p:nvPr/>
        </p:nvSpPr>
        <p:spPr>
          <a:xfrm>
            <a:off x="6539332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30772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Forwarded, tracked,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30488" y="2976372"/>
            <a:ext cx="384048" cy="402336"/>
          </a:xfrm>
          <a:prstGeom prst="chevron">
            <a:avLst/>
          </a:prstGeom>
          <a:solidFill>
            <a:srgbClr val="1D8F6A"/>
          </a:solidFill>
          <a:ln/>
        </p:spPr>
      </p:sp>
      <p:sp>
        <p:nvSpPr>
          <p:cNvPr id="16" name="Shape 14"/>
          <p:cNvSpPr/>
          <p:nvPr/>
        </p:nvSpPr>
        <p:spPr>
          <a:xfrm>
            <a:off x="9758020" y="26517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0A5281"/>
          </a:solidFill>
          <a:ln/>
        </p:spPr>
      </p:sp>
      <p:sp>
        <p:nvSpPr>
          <p:cNvPr id="17" name="Text 15"/>
          <p:cNvSpPr/>
          <p:nvPr/>
        </p:nvSpPr>
        <p:spPr>
          <a:xfrm>
            <a:off x="9758020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49460" y="3108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stats,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turnaround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2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43484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— regardless of who raises it or how — becomes one trackable ticket, from the moment it is logged to the moment it is closed.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 Synapse — Issue Tracker &amp; Service Request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2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2F7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438912" cy="438912"/>
          </a:xfrm>
          <a:prstGeom prst="ellipse">
            <a:avLst/>
          </a:prstGeom>
          <a:solidFill>
            <a:srgbClr val="1D8F6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41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record, every channel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produces a trackable ticket.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2F7FB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874520"/>
            <a:ext cx="438912" cy="438912"/>
          </a:xfrm>
          <a:prstGeom prst="ellipse">
            <a:avLst/>
          </a:prstGeom>
          <a:solidFill>
            <a:srgbClr val="1D8F6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441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accountability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forward and change is attributed and timestamped.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2F7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1874520"/>
            <a:ext cx="438912" cy="438912"/>
          </a:xfrm>
          <a:prstGeom prst="ellipse">
            <a:avLst/>
          </a:prstGeom>
          <a:solidFill>
            <a:srgbClr val="1D8F6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441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handling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12480" y="2880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tickets are surfaced before they're worked twice.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2F7F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14800"/>
            <a:ext cx="438912" cy="438912"/>
          </a:xfrm>
          <a:prstGeom prst="ellipse">
            <a:avLst/>
          </a:prstGeom>
          <a:solidFill>
            <a:srgbClr val="1D8F6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4681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5120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requests delivered without staff intervention.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38404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2F7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7720" y="4114800"/>
            <a:ext cx="438912" cy="438912"/>
          </a:xfrm>
          <a:prstGeom prst="ellipse">
            <a:avLst/>
          </a:prstGeom>
          <a:solidFill>
            <a:srgbClr val="1D8F6A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17720" y="4681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visibility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617720" y="5120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turnaround visible from day one.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38404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2F7FB"/>
          </a:solidFill>
          <a:ln/>
        </p:spPr>
      </p:sp>
      <p:sp>
        <p:nvSpPr>
          <p:cNvPr id="29" name="Shape 27"/>
          <p:cNvSpPr/>
          <p:nvPr/>
        </p:nvSpPr>
        <p:spPr>
          <a:xfrm>
            <a:off x="8412480" y="4114800"/>
            <a:ext cx="438912" cy="438912"/>
          </a:xfrm>
          <a:prstGeom prst="ellipse">
            <a:avLst/>
          </a:prstGeom>
          <a:solidFill>
            <a:srgbClr val="1D8F6A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12480" y="4681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 for self-service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412480" y="5120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Resolved-ticket history seeds a future after-hours assistant.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 Synapse — Issue Tracker &amp; Service Request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2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What's Being Built 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66BB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5568" y="1545336"/>
            <a:ext cx="475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intake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8745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WhatsApp, Phone, Synapse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rgbClr val="66BB4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2569464"/>
            <a:ext cx="475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Auto-identify raiser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898648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master data; guest fallback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384048" cy="384048"/>
          </a:xfrm>
          <a:prstGeom prst="ellipse">
            <a:avLst/>
          </a:prstGeom>
          <a:solidFill>
            <a:srgbClr val="66BB4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3593592"/>
            <a:ext cx="475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categories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922776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Module × Issue Type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672584"/>
            <a:ext cx="384048" cy="384048"/>
          </a:xfrm>
          <a:prstGeom prst="ellipse">
            <a:avLst/>
          </a:prstGeom>
          <a:solidFill>
            <a:srgbClr val="66BB4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5568" y="4617720"/>
            <a:ext cx="475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Human-confirmed merge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946904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duplicate merging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24448" y="1600200"/>
            <a:ext cx="384048" cy="384048"/>
          </a:xfrm>
          <a:prstGeom prst="ellipse">
            <a:avLst/>
          </a:prstGeom>
          <a:solidFill>
            <a:srgbClr val="66BB46"/>
          </a:solidFill>
          <a:ln/>
        </p:spPr>
      </p:sp>
      <p:sp>
        <p:nvSpPr>
          <p:cNvPr id="20" name="Text 18"/>
          <p:cNvSpPr/>
          <p:nvPr/>
        </p:nvSpPr>
        <p:spPr>
          <a:xfrm>
            <a:off x="632444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91376" y="1545336"/>
            <a:ext cx="475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91376" y="1874520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forward and status change logged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24448" y="2624328"/>
            <a:ext cx="384048" cy="384048"/>
          </a:xfrm>
          <a:prstGeom prst="ellipse">
            <a:avLst/>
          </a:prstGeom>
          <a:solidFill>
            <a:srgbClr val="66BB46"/>
          </a:solidFill>
          <a:ln/>
        </p:spPr>
      </p:sp>
      <p:sp>
        <p:nvSpPr>
          <p:cNvPr id="24" name="Text 22"/>
          <p:cNvSpPr/>
          <p:nvPr/>
        </p:nvSpPr>
        <p:spPr>
          <a:xfrm>
            <a:off x="6324448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91376" y="2569464"/>
            <a:ext cx="475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Change-request path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91376" y="2898648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Management-approved, backlog-bound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24448" y="3648456"/>
            <a:ext cx="384048" cy="384048"/>
          </a:xfrm>
          <a:prstGeom prst="ellipse">
            <a:avLst/>
          </a:prstGeom>
          <a:solidFill>
            <a:srgbClr val="66BB46"/>
          </a:solidFill>
          <a:ln/>
        </p:spPr>
      </p:sp>
      <p:sp>
        <p:nvSpPr>
          <p:cNvPr id="28" name="Text 26"/>
          <p:cNvSpPr/>
          <p:nvPr/>
        </p:nvSpPr>
        <p:spPr>
          <a:xfrm>
            <a:off x="6324448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91376" y="3593592"/>
            <a:ext cx="475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document delivery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91376" y="3922776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Ledgers, margin reports, contract notes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24448" y="4672584"/>
            <a:ext cx="384048" cy="384048"/>
          </a:xfrm>
          <a:prstGeom prst="ellipse">
            <a:avLst/>
          </a:prstGeom>
          <a:solidFill>
            <a:srgbClr val="66BB46"/>
          </a:solidFill>
          <a:ln/>
        </p:spPr>
      </p:sp>
      <p:sp>
        <p:nvSpPr>
          <p:cNvPr id="32" name="Text 30"/>
          <p:cNvSpPr/>
          <p:nvPr/>
        </p:nvSpPr>
        <p:spPr>
          <a:xfrm>
            <a:off x="6324448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91376" y="4617720"/>
            <a:ext cx="475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stats reporting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91376" y="4946904"/>
            <a:ext cx="475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Closures, new, forwarded, avg. turnaround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 Synapse — Issue Tracker &amp; Service Request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2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Out of Scope — For 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out on purpose, to keep Phase 1 tight and shippable.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502920"/>
          </a:xfrm>
          <a:prstGeom prst="roundRect">
            <a:avLst>
              <a:gd name="adj" fmla="val 14545"/>
            </a:avLst>
          </a:prstGeom>
          <a:solidFill>
            <a:srgbClr val="0A528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Phase 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24448" y="1691640"/>
            <a:ext cx="5318608" cy="502920"/>
          </a:xfrm>
          <a:prstGeom prst="roundRect">
            <a:avLst>
              <a:gd name="adj" fmla="val 14545"/>
            </a:avLst>
          </a:prstGeom>
          <a:solidFill>
            <a:srgbClr val="1D8F6A"/>
          </a:solidFill>
          <a:ln/>
        </p:spPr>
      </p:sp>
      <p:sp>
        <p:nvSpPr>
          <p:cNvPr id="7" name="Text 5"/>
          <p:cNvSpPr/>
          <p:nvPr/>
        </p:nvSpPr>
        <p:spPr>
          <a:xfrm>
            <a:off x="6324448" y="16916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318608" cy="1371600"/>
          </a:xfrm>
          <a:prstGeom prst="roundRect">
            <a:avLst>
              <a:gd name="adj" fmla="val 5333"/>
            </a:avLst>
          </a:prstGeom>
          <a:solidFill>
            <a:srgbClr val="F2F7F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77440"/>
            <a:ext cx="467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MFA on document requests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24448" y="2377440"/>
            <a:ext cx="5318608" cy="1371600"/>
          </a:xfrm>
          <a:prstGeom prst="roundRect">
            <a:avLst>
              <a:gd name="adj" fmla="val 5333"/>
            </a:avLst>
          </a:prstGeom>
          <a:solidFill>
            <a:srgbClr val="F2F7FB"/>
          </a:solidFill>
          <a:ln/>
        </p:spPr>
      </p:sp>
      <p:sp>
        <p:nvSpPr>
          <p:cNvPr id="11" name="Text 9"/>
          <p:cNvSpPr/>
          <p:nvPr/>
        </p:nvSpPr>
        <p:spPr>
          <a:xfrm>
            <a:off x="6644488" y="2377440"/>
            <a:ext cx="467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mobile match against master data is sufficient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18608" cy="1371600"/>
          </a:xfrm>
          <a:prstGeom prst="roundRect">
            <a:avLst>
              <a:gd name="adj" fmla="val 5333"/>
            </a:avLst>
          </a:prstGeom>
          <a:solidFill>
            <a:srgbClr val="F2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77640"/>
            <a:ext cx="467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Severity-tiered SLAs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24448" y="3977640"/>
            <a:ext cx="5318608" cy="1371600"/>
          </a:xfrm>
          <a:prstGeom prst="roundRect">
            <a:avLst>
              <a:gd name="adj" fmla="val 5333"/>
            </a:avLst>
          </a:prstGeom>
          <a:solidFill>
            <a:srgbClr val="F2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6644488" y="3977640"/>
            <a:ext cx="467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12–24h response target keeps scope tight and shippable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 Synapse — Issue Tracker &amp; Service Request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2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66060" y="2766060"/>
            <a:ext cx="6656832" cy="0"/>
          </a:xfrm>
          <a:prstGeom prst="line">
            <a:avLst/>
          </a:prstGeom>
          <a:noFill/>
          <a:ln w="25400">
            <a:solidFill>
              <a:srgbClr val="D8E4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97380" y="2331720"/>
            <a:ext cx="868680" cy="868680"/>
          </a:xfrm>
          <a:prstGeom prst="ellipse">
            <a:avLst/>
          </a:prstGeom>
          <a:solidFill>
            <a:srgbClr val="0A5281"/>
          </a:solidFill>
          <a:ln/>
        </p:spPr>
      </p:sp>
      <p:sp>
        <p:nvSpPr>
          <p:cNvPr id="5" name="Text 3"/>
          <p:cNvSpPr/>
          <p:nvPr/>
        </p:nvSpPr>
        <p:spPr>
          <a:xfrm>
            <a:off x="18973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41605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ticketing loop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intake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+ audit trail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1965" y="2331720"/>
            <a:ext cx="868680" cy="868680"/>
          </a:xfrm>
          <a:prstGeom prst="ellipse">
            <a:avLst/>
          </a:prstGeom>
          <a:solidFill>
            <a:srgbClr val="1D8F6A"/>
          </a:solidFill>
          <a:ln/>
        </p:spPr>
      </p:sp>
      <p:sp>
        <p:nvSpPr>
          <p:cNvPr id="10" name="Text 8"/>
          <p:cNvSpPr/>
          <p:nvPr/>
        </p:nvSpPr>
        <p:spPr>
          <a:xfrm>
            <a:off x="5661965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907585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07585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D8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24705" y="41605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Command Center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aging buckets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Product-wise breakdown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22892" y="2331720"/>
            <a:ext cx="868680" cy="868680"/>
          </a:xfrm>
          <a:prstGeom prst="ellipse">
            <a:avLst/>
          </a:prstGeom>
          <a:solidFill>
            <a:srgbClr val="66BB46"/>
          </a:solidFill>
          <a:ln/>
        </p:spPr>
      </p:sp>
      <p:sp>
        <p:nvSpPr>
          <p:cNvPr id="15" name="Text 13"/>
          <p:cNvSpPr/>
          <p:nvPr/>
        </p:nvSpPr>
        <p:spPr>
          <a:xfrm>
            <a:off x="9422892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668512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68512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6B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85632" y="41605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intake (Google API)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solutions repository</a:t>
            </a:r>
            <a:endParaRPr lang="en-US" sz="1200" dirty="0"/>
          </a:p>
          <a:p>
            <a:pPr marL="342900" indent="-342900" algn="l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WhatsApp/web bot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 Synapse — Issue Tracker &amp; Service Request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2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what's already live in production.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3108960"/>
          </a:xfrm>
          <a:prstGeom prst="roundRect">
            <a:avLst>
              <a:gd name="adj" fmla="val 2353"/>
            </a:avLst>
          </a:prstGeom>
          <a:solidFill>
            <a:srgbClr val="F2F7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47672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Live in Synapse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678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Prisma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authentication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4448" y="1691640"/>
            <a:ext cx="5318608" cy="3108960"/>
          </a:xfrm>
          <a:prstGeom prst="roundRect">
            <a:avLst>
              <a:gd name="adj" fmla="val 2353"/>
            </a:avLst>
          </a:prstGeom>
          <a:solidFill>
            <a:srgbClr val="FDF5E4"/>
          </a:solidFill>
          <a:ln/>
        </p:spPr>
      </p:sp>
      <p:sp>
        <p:nvSpPr>
          <p:cNvPr id="8" name="Text 6"/>
          <p:cNvSpPr/>
          <p:nvPr/>
        </p:nvSpPr>
        <p:spPr>
          <a:xfrm>
            <a:off x="6644488" y="1947672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 Phase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44488" y="2880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44488" y="3429000"/>
            <a:ext cx="467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genuinely new integration Phase 1 requires.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0A528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systems to stand up. One login, one database, one deploy pipeline.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 Synapse — Issue Tracker &amp; Service Request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2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Inside Synapse, Not Standalone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18608" cy="3291840"/>
          </a:xfrm>
          <a:prstGeom prst="roundRect">
            <a:avLst>
              <a:gd name="adj" fmla="val 2222"/>
            </a:avLst>
          </a:prstGeom>
          <a:solidFill>
            <a:srgbClr val="F2F7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47672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468880"/>
            <a:ext cx="46785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 for staff and clients alike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 — no sync layer to build or maintain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reuse of existing employee and client master data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24448" y="1691640"/>
            <a:ext cx="5318608" cy="3291840"/>
          </a:xfrm>
          <a:prstGeom prst="roundRect">
            <a:avLst>
              <a:gd name="adj" fmla="val 2222"/>
            </a:avLst>
          </a:prstGeom>
          <a:solidFill>
            <a:srgbClr val="FDF5E4"/>
          </a:solidFill>
          <a:ln w="12700">
            <a:solidFill>
              <a:srgbClr val="E6C9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44488" y="1947672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Tradeoff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44488" y="256032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couples the module's release cycle and database load to Synapse's.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44488" y="342900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at current scale. Worth revisiting only if Synapse itself needs to stay lightweight.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 Synapse — Issue Tracker &amp; Service Request 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2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Safety for the After-Hours Bot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addressed now because it shapes the whole design.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52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will never guess.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F2F7F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97764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from human-curated resolutions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4572000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auto-published — a staff member marks a resolution reusable 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3749040"/>
            <a:ext cx="5318608" cy="1737360"/>
          </a:xfrm>
          <a:prstGeom prst="roundRect">
            <a:avLst>
              <a:gd name="adj" fmla="val 4211"/>
            </a:avLst>
          </a:prstGeom>
          <a:solidFill>
            <a:srgbClr val="F2F7FB"/>
          </a:solidFill>
          <a:ln/>
        </p:spPr>
      </p:sp>
      <p:sp>
        <p:nvSpPr>
          <p:cNvPr id="9" name="Text 7"/>
          <p:cNvSpPr/>
          <p:nvPr/>
        </p:nvSpPr>
        <p:spPr>
          <a:xfrm>
            <a:off x="6644488" y="397764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A52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when it isn't confident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44488" y="4572000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in the repository → a real ticket is created for next-business-day response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 Synapse — Issue Tracker &amp; Service Request System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52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38648" y="1920240"/>
            <a:ext cx="914400" cy="914400"/>
          </a:xfrm>
          <a:prstGeom prst="ellipse">
            <a:avLst/>
          </a:prstGeom>
          <a:solidFill>
            <a:srgbClr val="66BB46"/>
          </a:solidFill>
          <a:ln/>
        </p:spPr>
      </p:sp>
      <p:sp>
        <p:nvSpPr>
          <p:cNvPr id="4" name="Text 2"/>
          <p:cNvSpPr/>
          <p:nvPr/>
        </p:nvSpPr>
        <p:spPr>
          <a:xfrm>
            <a:off x="5638648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52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Phase 1 for build.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3794760"/>
            <a:ext cx="8351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and Phase 3 scope will be finalized separately, closer to their respective start dates.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77440" y="4709160"/>
            <a:ext cx="7436815" cy="1005840"/>
          </a:xfrm>
          <a:prstGeom prst="roundRect">
            <a:avLst>
              <a:gd name="adj" fmla="val 7273"/>
            </a:avLst>
          </a:prstGeom>
          <a:solidFill>
            <a:srgbClr val="F2F7FB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4709160"/>
            <a:ext cx="7436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inside Synapse. No new systems. One integration to add.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 Synapse — Issue Tracker &amp; Service Request System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560320"/>
            <a:ext cx="5943600" cy="5943600"/>
          </a:xfrm>
          <a:prstGeom prst="ellipse">
            <a:avLst/>
          </a:prstGeom>
          <a:solidFill>
            <a:srgbClr val="1D8F6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486400" cy="5486400"/>
          </a:xfrm>
          <a:prstGeom prst="ellipse">
            <a:avLst/>
          </a:prstGeom>
          <a:solidFill>
            <a:srgbClr val="66BB4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Manesh Mukherjee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1264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 Synapse — Issue Tracker &amp; Service Request System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3709</TotalTime>
  <Words>1355</Words>
  <Application>Microsoft Office PowerPoint</Application>
  <PresentationFormat>Widescreen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Issue Tracker &amp; Service Request System — Proposal for Approval</dc:title>
  <dc:subject>PptxGenJS Presentation</dc:subject>
  <dc:creator>Manesh Mukherjee</dc:creator>
  <cp:lastModifiedBy>ManeshMukherjee</cp:lastModifiedBy>
  <cp:revision>2</cp:revision>
  <dcterms:created xsi:type="dcterms:W3CDTF">2026-08-04T18:14:20Z</dcterms:created>
  <dcterms:modified xsi:type="dcterms:W3CDTF">2026-08-07T08:06:16Z</dcterms:modified>
</cp:coreProperties>
</file>